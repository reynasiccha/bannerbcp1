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bubble3D val="0"/>
            <c:spPr>
              <a:solidFill>
                <a:srgbClr val="2E5A9C"/>
              </a:solidFill>
              <a:effectLst/>
            </c:spPr>
          </c:dPt>
          <c:dPt>
            <c:idx val="2"/>
            <c:bubble3D val="0"/>
            <c:spPr>
              <a:solidFill>
                <a:srgbClr val="5B8AC4"/>
              </a:solidFill>
              <a:effectLst/>
            </c:spPr>
          </c:dPt>
          <c:dPt>
            <c:idx val="3"/>
            <c:bubble3D val="0"/>
            <c:spPr>
              <a:solidFill>
                <a:srgbClr val="EE6C1E"/>
              </a:solidFill>
              <a:effectLst/>
            </c:spPr>
          </c:dPt>
          <c:dPt>
            <c:idx val="4"/>
            <c:bubble3D val="0"/>
            <c:spPr>
              <a:solidFill>
                <a:srgbClr val="D8550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&lt; 3 meses</c:v>
                </c:pt>
                <c:pt idx="1">
                  <c:v>3–6 meses</c:v>
                </c:pt>
                <c:pt idx="2">
                  <c:v>6–12 meses</c:v>
                </c:pt>
                <c:pt idx="3">
                  <c:v>1–2 años</c:v>
                </c:pt>
                <c:pt idx="4">
                  <c:v>&gt; 2 años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22</c:v>
                </c:pt>
                <c:pt idx="1">
                  <c:v>18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4EA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20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A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44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7A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Mejores amigos</c:v>
                  </c:pt>
                  <c:pt idx="1">
                    <c:v>Buena relación</c:v>
                  </c:pt>
                  <c:pt idx="2">
                    <c:v>Neutral</c:v>
                  </c:pt>
                  <c:pt idx="3">
                    <c:v>Mala relación</c:v>
                  </c:pt>
                  <c:pt idx="4">
                    <c:v>Aislado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42</c:v>
                </c:pt>
                <c:pt idx="2">
                  <c:v>25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20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A72E"/>
              </a:solidFill>
              <a:effectLst/>
            </c:spPr>
          </c:dPt>
          <c:dPt>
            <c:idx val="1"/>
            <c:bubble3D val="0"/>
            <c:spPr>
              <a:solidFill>
                <a:srgbClr val="9DC44E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bubble3D val="0"/>
            <c:spPr>
              <a:solidFill>
                <a:srgbClr val="D87A2B"/>
              </a:solidFill>
              <a:effectLst/>
            </c:spPr>
          </c:dPt>
          <c:dPt>
            <c:idx val="4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Divertido</c:v>
                </c:pt>
                <c:pt idx="1">
                  <c:v>Positivo</c:v>
                </c:pt>
                <c:pt idx="2">
                  <c:v>Mixto</c:v>
                </c:pt>
                <c:pt idx="3">
                  <c:v>Estresante</c:v>
                </c:pt>
                <c:pt idx="4">
                  <c:v>Tóxico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4EA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20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A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44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7A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Fuerte sentido equipo</c:v>
                  </c:pt>
                  <c:pt idx="1">
                    <c:v>Buen apoyo mutuo</c:v>
                  </c:pt>
                  <c:pt idx="2">
                    <c:v>Más individual</c:v>
                  </c:pt>
                  <c:pt idx="3">
                    <c:v>Competencia indiv.</c:v>
                  </c:pt>
                  <c:pt idx="4">
                    <c:v>Aislado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33</c:v>
                </c:pt>
                <c:pt idx="2">
                  <c:v>25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20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A72E"/>
              </a:solidFill>
              <a:effectLst/>
            </c:spPr>
          </c:dPt>
          <c:dPt>
            <c:idx val="1"/>
            <c:bubble3D val="0"/>
            <c:spPr>
              <a:solidFill>
                <a:srgbClr val="9DC44E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bubble3D val="0"/>
            <c:spPr>
              <a:solidFill>
                <a:srgbClr val="D87A2B"/>
              </a:solidFill>
              <a:effectLst/>
            </c:spPr>
          </c:dPt>
          <c:dPt>
            <c:idx val="4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Mentor/amigo</c:v>
                </c:pt>
                <c:pt idx="1">
                  <c:v>Profesional y justo</c:v>
                </c:pt>
                <c:pt idx="2">
                  <c:v>Solo mi jefe</c:v>
                </c:pt>
                <c:pt idx="3">
                  <c:v>Exigente</c:v>
                </c:pt>
                <c:pt idx="4">
                  <c:v>Desmotivador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24</c:v>
                </c:pt>
                <c:pt idx="1">
                  <c:v>38</c:v>
                </c:pt>
                <c:pt idx="2">
                  <c:v>20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Menciones</c:v>
                </c:pt>
              </c:strCache>
            </c:strRef>
          </c:tx>
          <c:spPr>
            <a:solidFill>
              <a:srgbClr val="D8550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20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855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6C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4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Salario/comisión</c:v>
                  </c:pt>
                  <c:pt idx="1">
                    <c:v>Compañeros/ambiente</c:v>
                  </c:pt>
                  <c:pt idx="2">
                    <c:v>Crecimiento</c:v>
                  </c:pt>
                  <c:pt idx="3">
                    <c:v>Apoyo supervisor/equipo</c:v>
                  </c:pt>
                  <c:pt idx="4">
                    <c:v>Aprender habilidades</c:v>
                  </c:pt>
                  <c:pt idx="5">
                    <c:v>Flexibilidad horaria</c:v>
                  </c:pt>
                  <c:pt idx="6">
                    <c:v>Beneficios</c:v>
                  </c:pt>
                  <c:pt idx="7">
                    <c:v>Otro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</c:v>
                </c:pt>
                <c:pt idx="1">
                  <c:v>52</c:v>
                </c:pt>
                <c:pt idx="2">
                  <c:v>44</c:v>
                </c:pt>
                <c:pt idx="3">
                  <c:v>38</c:v>
                </c:pt>
                <c:pt idx="4">
                  <c:v>33</c:v>
                </c:pt>
                <c:pt idx="5">
                  <c:v>29</c:v>
                </c:pt>
                <c:pt idx="6">
                  <c:v>22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20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Menciones</c:v>
                </c:pt>
              </c:strCache>
            </c:strRef>
          </c:tx>
          <c:spPr>
            <a:solidFill>
              <a:srgbClr val="D8550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20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855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6C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4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A93A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Salario bajo / metas</c:v>
                  </c:pt>
                  <c:pt idx="1">
                    <c:v>Carga excesiva</c:v>
                  </c:pt>
                  <c:pt idx="2">
                    <c:v>Sin crecimiento</c:v>
                  </c:pt>
                  <c:pt idx="3">
                    <c:v>Falta reconocimiento</c:v>
                  </c:pt>
                  <c:pt idx="4">
                    <c:v>Procesos ineficientes</c:v>
                  </c:pt>
                  <c:pt idx="5">
                    <c:v>Sin equilibrio vida-trabajo</c:v>
                  </c:pt>
                  <c:pt idx="6">
                    <c:v>Supervisor no apoya</c:v>
                  </c:pt>
                  <c:pt idx="7">
                    <c:v>Horarios</c:v>
                  </c:pt>
                  <c:pt idx="8">
                    <c:v>Mal ambiente</c:v>
                  </c:pt>
                  <c:pt idx="9">
                    <c:v>Otro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47</c:v>
                </c:pt>
                <c:pt idx="2">
                  <c:v>41</c:v>
                </c:pt>
                <c:pt idx="3">
                  <c:v>35</c:v>
                </c:pt>
                <c:pt idx="4">
                  <c:v>31</c:v>
                </c:pt>
                <c:pt idx="5">
                  <c:v>28</c:v>
                </c:pt>
                <c:pt idx="6">
                  <c:v>26</c:v>
                </c:pt>
                <c:pt idx="7">
                  <c:v>24</c:v>
                </c:pt>
                <c:pt idx="8">
                  <c:v>22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20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4EA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20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A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44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87A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Totalmente de acuerdo</c:v>
                  </c:pt>
                  <c:pt idx="1">
                    <c:v>De acuerdo</c:v>
                  </c:pt>
                  <c:pt idx="2">
                    <c:v>Neutral</c:v>
                  </c:pt>
                  <c:pt idx="3">
                    <c:v>En desacuerdo</c:v>
                  </c:pt>
                  <c:pt idx="4">
                    <c:v>Totalmente en desac.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34</c:v>
                </c:pt>
                <c:pt idx="2">
                  <c:v>28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20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D87A2B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bubble3D val="0"/>
            <c:spPr>
              <a:solidFill>
                <a:srgbClr val="9DC44E"/>
              </a:solidFill>
              <a:effectLst/>
            </c:spPr>
          </c:dPt>
          <c:dPt>
            <c:idx val="4"/>
            <c:bubble3D val="0"/>
            <c:spPr>
              <a:solidFill>
                <a:srgbClr val="4EA7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Muy probable (9-10)</c:v>
                </c:pt>
                <c:pt idx="1">
                  <c:v>Probable (7-8)</c:v>
                </c:pt>
                <c:pt idx="2">
                  <c:v>Algo probable (5-6)</c:v>
                </c:pt>
                <c:pt idx="3">
                  <c:v>Poco probable (3-4)</c:v>
                </c:pt>
                <c:pt idx="4">
                  <c:v>Muy improbable (1-2)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24</c:v>
                </c:pt>
                <c:pt idx="4">
                  <c:v>21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Respuestas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20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Ambiente relajado</c:v>
                  </c:pt>
                  <c:pt idx="1">
                    <c:v>Mejor relac. supervisor</c:v>
                  </c:pt>
                  <c:pt idx="2">
                    <c:v>Más amigos equipo</c:v>
                  </c:pt>
                  <c:pt idx="3">
                    <c:v>Menos presión/+reconoc.</c:v>
                  </c:pt>
                  <c:pt idx="4">
                    <c:v>Horarios flexibles</c:v>
                  </c:pt>
                  <c:pt idx="5">
                    <c:v>Mejor salario</c:v>
                  </c:pt>
                  <c:pt idx="6">
                    <c:v>Capacitación/crecim.</c:v>
                  </c:pt>
                  <c:pt idx="7">
                    <c:v>Eventos integración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14</c:v>
                </c:pt>
                <c:pt idx="2">
                  <c:v>11</c:v>
                </c:pt>
                <c:pt idx="3">
                  <c:v>33</c:v>
                </c:pt>
                <c:pt idx="4">
                  <c:v>22</c:v>
                </c:pt>
                <c:pt idx="5">
                  <c:v>41</c:v>
                </c:pt>
                <c:pt idx="6">
                  <c:v>30</c:v>
                </c:pt>
                <c:pt idx="7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20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377440"/>
            <a:ext cx="8686800" cy="868680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3" name="Shape 1"/>
          <p:cNvSpPr/>
          <p:nvPr/>
        </p:nvSpPr>
        <p:spPr>
          <a:xfrm>
            <a:off x="-4206240" y="1097280"/>
            <a:ext cx="5669280" cy="5669280"/>
          </a:xfrm>
          <a:prstGeom prst="ellipse">
            <a:avLst/>
          </a:prstGeom>
          <a:solidFill>
            <a:srgbClr val="D8550E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ENCUESTA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Personal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· Servicios Financieros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5029200" cy="0"/>
          </a:xfrm>
          <a:prstGeom prst="line">
            <a:avLst/>
          </a:prstGeom>
          <a:noFill/>
          <a:ln w="31750">
            <a:solidFill>
              <a:srgbClr val="EE6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66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CC y Ventas  ·  Jun '26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02775" y="507492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095" y="5321808"/>
            <a:ext cx="169164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realizó la encuesta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847088"/>
            <a:ext cx="731520" cy="73152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470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45920" y="18013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2148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activos del Call Center (Inbound y canales)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47088"/>
            <a:ext cx="731520" cy="73152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8470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06640" y="18013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06640" y="2148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respuestas recibidas de [TOTAL] asesores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2004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3447288"/>
            <a:ext cx="731520" cy="73152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4472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4592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45920" y="3749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Anónima · autoadministrada · 5–7 minutos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92240" y="3447288"/>
            <a:ext cx="731520" cy="73152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34472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40664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06640" y="3749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preguntas (8 de opción única + P6 y P7 de selección múltiple)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48006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" y="5047488"/>
            <a:ext cx="731520" cy="73152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50474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645920" y="5001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645920" y="5349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[Fecha inicio] – [Fecha fin]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63640" y="48006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92240" y="5047488"/>
            <a:ext cx="731520" cy="731520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32" name="Text 29"/>
          <p:cNvSpPr/>
          <p:nvPr/>
        </p:nvSpPr>
        <p:spPr>
          <a:xfrm>
            <a:off x="6492240" y="50474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7406640" y="5001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406640" y="5349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drivers de permanencia y riesgo de rotación</a:t>
            </a:r>
            <a:endParaRPr lang="en-US" sz="1200" dirty="0"/>
          </a:p>
        </p:txBody>
      </p:sp>
      <p:pic>
        <p:nvPicPr>
          <p:cNvPr id="35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de la encuesta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3736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0116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%]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salida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(prob. alta en 3 meses · P9)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47288" y="173736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47288" y="20116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%]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3584448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positivo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(P3: divertido/positivo)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91656" y="173736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91656" y="20116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%]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528816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buena con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(P5)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36024" y="173736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336024" y="20116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%]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9473184" y="28803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Confían en que 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los cuida (P8)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3977640"/>
            <a:ext cx="11155680" cy="1874520"/>
          </a:xfrm>
          <a:prstGeom prst="roundRect">
            <a:avLst>
              <a:gd name="adj" fmla="val 3902"/>
            </a:avLst>
          </a:prstGeom>
          <a:solidFill>
            <a:srgbClr val="FBFCFE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rápida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45262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los corchetes con tus cifras reales.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este espacio para 2–3 conclusiones: dónde está el mayor riesgo, qué motiva a quedarse y la acción prioritaria del trimestre.</a:t>
            </a:r>
            <a:endParaRPr lang="en-US" sz="1300" dirty="0"/>
          </a:p>
        </p:txBody>
      </p:sp>
      <p:pic>
        <p:nvPicPr>
          <p:cNvPr id="20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en el Call Center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tiempo llevas dentro del CC?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85800" y="2148840"/>
          <a:ext cx="52120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respuestas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560320"/>
          <a:ext cx="498348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7724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años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 años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92240" y="4562856"/>
            <a:ext cx="4983480" cy="1517904"/>
          </a:xfrm>
          <a:prstGeom prst="roundRect">
            <a:avLst>
              <a:gd name="adj" fmla="val 3614"/>
            </a:avLst>
          </a:prstGeom>
          <a:solidFill>
            <a:srgbClr val="FFF3EA"/>
          </a:solidFill>
          <a:ln/>
        </p:spPr>
      </p:sp>
      <p:sp>
        <p:nvSpPr>
          <p:cNvPr id="12" name="Text 7"/>
          <p:cNvSpPr/>
          <p:nvPr/>
        </p:nvSpPr>
        <p:spPr>
          <a:xfrm>
            <a:off x="6675120" y="4654296"/>
            <a:ext cx="46177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en tramos tempranos (&lt;6 meses): cruzar con P9 para detectar onboarding fallido.</a:t>
            </a:r>
            <a:endParaRPr lang="en-US" sz="1100" dirty="0"/>
          </a:p>
        </p:txBody>
      </p:sp>
      <p:pic>
        <p:nvPicPr>
          <p:cNvPr id="13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equipo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fuerte es tu relación/amistad con tus compañeros de equipo?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73152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31520" y="2194560"/>
          <a:ext cx="69037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001000" y="196596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Hallazgo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pertenencia social es un fuerte predictor de permanencia. Vigila el % de 'neutral/aislado'.</a:t>
            </a:r>
            <a:endParaRPr lang="en-US" sz="1250" dirty="0"/>
          </a:p>
        </p:txBody>
      </p:sp>
      <p:pic>
        <p:nvPicPr>
          <p:cNvPr id="11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del equipo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describirías el ambiente de tu equipo?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85800" y="2148840"/>
          <a:ext cx="52120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respuestas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560320"/>
          <a:ext cx="498348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7724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Divertido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Estresante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Tóxico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92240" y="4562856"/>
            <a:ext cx="4983480" cy="1517904"/>
          </a:xfrm>
          <a:prstGeom prst="roundRect">
            <a:avLst>
              <a:gd name="adj" fmla="val 3614"/>
            </a:avLst>
          </a:prstGeom>
          <a:solidFill>
            <a:srgbClr val="FFF3EA"/>
          </a:solidFill>
          <a:ln/>
        </p:spPr>
      </p:sp>
      <p:sp>
        <p:nvSpPr>
          <p:cNvPr id="12" name="Text 7"/>
          <p:cNvSpPr/>
          <p:nvPr/>
        </p:nvSpPr>
        <p:spPr>
          <a:xfrm>
            <a:off x="6675120" y="4654296"/>
            <a:ext cx="46177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'Divertido + Positivo' como indicador de clima sano. 'Estresante + Tóxico' marca focos de acción.</a:t>
            </a:r>
            <a:endParaRPr lang="en-US" sz="1100" dirty="0"/>
          </a:p>
        </p:txBody>
      </p:sp>
      <p:pic>
        <p:nvPicPr>
          <p:cNvPr id="13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de equipo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sientes parte de un equipo que logra cosas juntas o solo haces tu trabajo individual?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73152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31520" y="2194560"/>
          <a:ext cx="69037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001000" y="196596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Hallazgo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con P2: bajo sentido de equipo + baja amistad = pertenencia débil y abandono probable.</a:t>
            </a:r>
            <a:endParaRPr lang="en-US" sz="1250" dirty="0"/>
          </a:p>
        </p:txBody>
      </p:sp>
      <p:pic>
        <p:nvPicPr>
          <p:cNvPr id="11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supervisor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describirías tu relación con tu supervisor?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85800" y="2148840"/>
          <a:ext cx="52120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respuestas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560320"/>
          <a:ext cx="498348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7724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Mentor/amigo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Profesional y justo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mi jefe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Desmotivador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92240" y="4562856"/>
            <a:ext cx="4983480" cy="1517904"/>
          </a:xfrm>
          <a:prstGeom prst="roundRect">
            <a:avLst>
              <a:gd name="adj" fmla="val 3614"/>
            </a:avLst>
          </a:prstGeom>
          <a:solidFill>
            <a:srgbClr val="FFF3EA"/>
          </a:solidFill>
          <a:ln/>
        </p:spPr>
      </p:sp>
      <p:sp>
        <p:nvSpPr>
          <p:cNvPr id="12" name="Text 7"/>
          <p:cNvSpPr/>
          <p:nvPr/>
        </p:nvSpPr>
        <p:spPr>
          <a:xfrm>
            <a:off x="6675120" y="4654296"/>
            <a:ext cx="46177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directo es palanca clave de retención. Si 'Exigente + Desmotivador' es alto → plan con supervisores.</a:t>
            </a:r>
            <a:endParaRPr lang="en-US" sz="1100" dirty="0"/>
          </a:p>
        </p:txBody>
      </p:sp>
      <p:pic>
        <p:nvPicPr>
          <p:cNvPr id="13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los motiva a quedarse? (Top 3)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motiva PRINCIPALMENTE a seguir trabajando en BCP? (3 opciones, en orden de importancia)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201400" cy="45720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múltiple: cada asesor marcó 3 opciones en orden de importancia. El gráfico muestra el conteo de menciones (cuántas veces fue elegida cada opción).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514600"/>
            <a:ext cx="7498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731520" y="2697480"/>
          <a:ext cx="7086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183880" y="25146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BFCFE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3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12480" y="3154680"/>
            <a:ext cx="566928" cy="566928"/>
          </a:xfrm>
          <a:prstGeom prst="ellipse">
            <a:avLst/>
          </a:prstGeom>
          <a:solidFill>
            <a:srgbClr val="D8550E"/>
          </a:solidFill>
          <a:ln/>
        </p:spPr>
      </p:sp>
      <p:sp>
        <p:nvSpPr>
          <p:cNvPr id="13" name="Text 9"/>
          <p:cNvSpPr/>
          <p:nvPr/>
        </p:nvSpPr>
        <p:spPr>
          <a:xfrm>
            <a:off x="8412480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098280" y="31089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Salario/comisión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412480" y="4087368"/>
            <a:ext cx="566928" cy="566928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16" name="Text 12"/>
          <p:cNvSpPr/>
          <p:nvPr/>
        </p:nvSpPr>
        <p:spPr>
          <a:xfrm>
            <a:off x="8412480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098280" y="4041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Compañeros/ambiente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412480" y="5020056"/>
            <a:ext cx="566928" cy="566928"/>
          </a:xfrm>
          <a:prstGeom prst="ellipse">
            <a:avLst/>
          </a:prstGeom>
          <a:solidFill>
            <a:srgbClr val="F0A463"/>
          </a:solidFill>
          <a:ln/>
        </p:spPr>
      </p:sp>
      <p:sp>
        <p:nvSpPr>
          <p:cNvPr id="19" name="Text 15"/>
          <p:cNvSpPr/>
          <p:nvPr/>
        </p:nvSpPr>
        <p:spPr>
          <a:xfrm>
            <a:off x="8412480" y="50200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098280" y="49743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100" dirty="0"/>
          </a:p>
        </p:txBody>
      </p:sp>
      <p:pic>
        <p:nvPicPr>
          <p:cNvPr id="21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los haría irse? (Top 3 obstáculos)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PRINCIPAL obstáculo que te hace considerar irte? (3 opciones, en orden de importancia)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201400" cy="457200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múltiple: cada asesor marcó 3 opciones en orden de importancia. El gráfico muestra el conteo de menciones (cuántas veces fue elegida cada opción).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2514600"/>
            <a:ext cx="74980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731520" y="2697480"/>
          <a:ext cx="7086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183880" y="25146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BFCFE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3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12480" y="3154680"/>
            <a:ext cx="566928" cy="566928"/>
          </a:xfrm>
          <a:prstGeom prst="ellipse">
            <a:avLst/>
          </a:prstGeom>
          <a:solidFill>
            <a:srgbClr val="D8550E"/>
          </a:solidFill>
          <a:ln/>
        </p:spPr>
      </p:sp>
      <p:sp>
        <p:nvSpPr>
          <p:cNvPr id="13" name="Text 9"/>
          <p:cNvSpPr/>
          <p:nvPr/>
        </p:nvSpPr>
        <p:spPr>
          <a:xfrm>
            <a:off x="8412480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098280" y="31089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bajo / metas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412480" y="4087368"/>
            <a:ext cx="566928" cy="566928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16" name="Text 12"/>
          <p:cNvSpPr/>
          <p:nvPr/>
        </p:nvSpPr>
        <p:spPr>
          <a:xfrm>
            <a:off x="8412480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098280" y="40416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excesiva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412480" y="5020056"/>
            <a:ext cx="566928" cy="566928"/>
          </a:xfrm>
          <a:prstGeom prst="ellipse">
            <a:avLst/>
          </a:prstGeom>
          <a:solidFill>
            <a:srgbClr val="F0A463"/>
          </a:solidFill>
          <a:ln/>
        </p:spPr>
      </p:sp>
      <p:sp>
        <p:nvSpPr>
          <p:cNvPr id="19" name="Text 15"/>
          <p:cNvSpPr/>
          <p:nvPr/>
        </p:nvSpPr>
        <p:spPr>
          <a:xfrm>
            <a:off x="8412480" y="50200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098280" y="49743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crecimiento</a:t>
            </a:r>
            <a:endParaRPr lang="en-US" sz="1100" dirty="0"/>
          </a:p>
        </p:txBody>
      </p:sp>
      <p:pic>
        <p:nvPicPr>
          <p:cNvPr id="21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en la empresa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¿Crees que la empresa realmente se preocupa por el bienestar de sus colaboradores?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73152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31520" y="2194560"/>
          <a:ext cx="69037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001000" y="196596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Hallazgo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'Neutral + Desacuerdo' supera al 'acuerdo', la dirección debe comunicar visión y valores con claridad.</a:t>
            </a:r>
            <a:endParaRPr lang="en-US" sz="1250" dirty="0"/>
          </a:p>
        </p:txBody>
      </p:sp>
      <p:pic>
        <p:nvPicPr>
          <p:cNvPr id="11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de búsqueda de empleo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probable es que busques otro trabajo en los próximos 3 meses?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85800" y="2148840"/>
          <a:ext cx="52120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196596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respuestas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560320"/>
          <a:ext cx="498348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7724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probable (9-10)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Probable (7-8)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 probable (5-6)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Poco probable (3-4)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improbable (1-2)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E6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92240" y="4562856"/>
            <a:ext cx="4983480" cy="1517904"/>
          </a:xfrm>
          <a:prstGeom prst="roundRect">
            <a:avLst>
              <a:gd name="adj" fmla="val 3614"/>
            </a:avLst>
          </a:prstGeom>
          <a:solidFill>
            <a:srgbClr val="FFF3EA"/>
          </a:solidFill>
          <a:ln/>
        </p:spPr>
      </p:sp>
      <p:sp>
        <p:nvSpPr>
          <p:cNvPr id="12" name="Text 7"/>
          <p:cNvSpPr/>
          <p:nvPr/>
        </p:nvSpPr>
        <p:spPr>
          <a:xfrm>
            <a:off x="6675120" y="4654296"/>
            <a:ext cx="461772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CRÍTICA. 'Muy probable + Probable' = riesgo inminente → reuniones 1:1 esta semana.</a:t>
            </a:r>
            <a:endParaRPr lang="en-US" sz="1100" dirty="0"/>
          </a:p>
        </p:txBody>
      </p:sp>
      <p:pic>
        <p:nvPicPr>
          <p:cNvPr id="13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mejoraría su experiencia?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 haría feliz/motivado para venir al trabajo? (opción más elegida)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73152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31520" y="2194560"/>
          <a:ext cx="69037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001000" y="196596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Hallazgo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las palancas más pedidas con acciones concretas y de bajo costo (integración, reconocimiento).</a:t>
            </a:r>
            <a:endParaRPr lang="en-US" sz="1250" dirty="0"/>
          </a:p>
        </p:txBody>
      </p:sp>
      <p:pic>
        <p:nvPicPr>
          <p:cNvPr id="11" name="Image 1" descr="logo_bc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Bandas de riesgo y acciones prioritarias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317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(preguntas)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0644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prioritaria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194767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331720" y="1691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(9-10) + P2 (aislado)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en 1–2 meses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9244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1:1 esta semana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624328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880360"/>
            <a:ext cx="310896" cy="310896"/>
          </a:xfrm>
          <a:prstGeom prst="ellipse">
            <a:avLst/>
          </a:prstGeom>
          <a:solidFill>
            <a:srgbClr val="D87A2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26243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331720" y="26243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(tóxico) o P2 (mala relación)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06440" y="26243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en ~3 meses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92440" y="2624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 supervisor + buddy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3557016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5800" y="3813048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3557016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331720" y="355701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(estresante)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06440" y="355701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en ~6 meses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92440" y="355701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Aliviar carga + reconocimiento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4489704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85800" y="4745736"/>
            <a:ext cx="310896" cy="310896"/>
          </a:xfrm>
          <a:prstGeom prst="ellipse">
            <a:avLst/>
          </a:prstGeom>
          <a:solidFill>
            <a:srgbClr val="4EA72E"/>
          </a:solidFill>
          <a:ln/>
        </p:spPr>
      </p:sp>
      <p:sp>
        <p:nvSpPr>
          <p:cNvPr id="29" name="Text 26"/>
          <p:cNvSpPr/>
          <p:nvPr/>
        </p:nvSpPr>
        <p:spPr>
          <a:xfrm>
            <a:off x="1097280" y="4489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331720" y="448970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respuestas positivas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806440" y="448970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segura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092440" y="448970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y monitorear</a:t>
            </a:r>
            <a:endParaRPr lang="en-US" sz="1200" dirty="0"/>
          </a:p>
        </p:txBody>
      </p:sp>
      <p:pic>
        <p:nvPicPr>
          <p:cNvPr id="33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Retención · Call Center · Comité CC y Ventas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2194560"/>
            <a:ext cx="7772400" cy="777240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acción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Compartir resultados con líderes de cada canal</a:t>
            </a:r>
            <a:endParaRPr lang="en-US" sz="17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Priorizar agentes en banda crítica (1:1 esta semana)</a:t>
            </a:r>
            <a:endParaRPr lang="en-US" sz="17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Definir 3 acciones concretas para el trimestre</a:t>
            </a:r>
            <a:endParaRPr lang="en-US" sz="17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Reaplicar encuesta en [X] meses y comparar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85216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7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053328"/>
            <a:ext cx="1645920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Encuesta de Retención</dc:title>
  <dc:subject>PptxGenJS Presentation</dc:subject>
  <dc:creator>Call Center - BCP</dc:creator>
  <cp:lastModifiedBy>Call Center - BCP</cp:lastModifiedBy>
  <cp:revision>1</cp:revision>
  <dcterms:created xsi:type="dcterms:W3CDTF">2026-06-10T02:44:08Z</dcterms:created>
  <dcterms:modified xsi:type="dcterms:W3CDTF">2026-06-10T02:44:08Z</dcterms:modified>
</cp:coreProperties>
</file>