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377440"/>
            <a:ext cx="8686800" cy="868680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3" name="Shape 1"/>
          <p:cNvSpPr/>
          <p:nvPr/>
        </p:nvSpPr>
        <p:spPr>
          <a:xfrm>
            <a:off x="-4206240" y="1097280"/>
            <a:ext cx="5669280" cy="5669280"/>
          </a:xfrm>
          <a:prstGeom prst="ellipse">
            <a:avLst/>
          </a:prstGeom>
          <a:solidFill>
            <a:srgbClr val="D8550E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630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· COMITÉ CC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Talento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 de permanencia para supervisores · Inbound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5029200" cy="0"/>
          </a:xfrm>
          <a:prstGeom prst="line">
            <a:avLst/>
          </a:prstGeom>
          <a:noFill/>
          <a:ln w="31750">
            <a:solidFill>
              <a:srgbClr val="EE6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medir, luego invertir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02775" y="507492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095" y="5321808"/>
            <a:ext cx="169164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proponemos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54480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F4F8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EE6C1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08483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7830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“Impulsando el Talento”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bono que premia al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cuando su equipo permanece en el puesto. Busca convertir la retención en una prioridad del liderazgo de primera línea.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" y="32918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851660" y="3611880"/>
            <a:ext cx="914400" cy="914400"/>
          </a:xfrm>
          <a:prstGeom prst="ellipse">
            <a:avLst/>
          </a:prstGeom>
          <a:solidFill>
            <a:srgbClr val="00206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38404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4617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premia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31520" y="5029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Supervisores de las líneas de Consultas Generales (CCGG)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297680" y="32918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646420" y="3611880"/>
            <a:ext cx="914400" cy="914400"/>
          </a:xfrm>
          <a:prstGeom prst="ellipse">
            <a:avLst/>
          </a:prstGeom>
          <a:solidFill>
            <a:srgbClr val="EE6C1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38404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80560" y="4617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paga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526280" y="5029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por permanencia del equipo (el desempeño ya tiene su propio bono)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092440" y="329184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41180" y="3611880"/>
            <a:ext cx="914400" cy="914400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0" y="38404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75320" y="4617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CCGG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321040" y="5029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línea con más salidas del CC: donde el impacto sería mayor</a:t>
            </a:r>
            <a:endParaRPr lang="en-US" sz="1200" dirty="0"/>
          </a:p>
        </p:txBody>
      </p:sp>
      <p:pic>
        <p:nvPicPr>
          <p:cNvPr id="24" name="Image 5" descr="logo_bc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 el Talento · Call Center · Comité CC y Ventas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supervisor, una cosecha: del mes 3 al pase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0876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45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ingresos entran por cosechas cada mes y el supervisor asignado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rota cada mes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trainee pasa por varios supervisores y nadie es responsable de acompañarlo ni de que se quede.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 propuesto del asesor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3291840"/>
            <a:ext cx="3383280" cy="109728"/>
          </a:xfrm>
          <a:prstGeom prst="rect">
            <a:avLst/>
          </a:prstGeom>
          <a:solidFill>
            <a:srgbClr val="8A93A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1-2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INSTRUCTOR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inicial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77640" y="32918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443484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6E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3291840"/>
            <a:ext cx="3383280" cy="109728"/>
          </a:xfrm>
          <a:prstGeom prst="rect">
            <a:avLst/>
          </a:prstGeom>
          <a:solidFill>
            <a:srgbClr val="EE6C1E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→ pase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61772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supervisor continuo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61772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 toda la etapa crítica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0" y="329184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822960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0" y="3291840"/>
            <a:ext cx="3383280" cy="109728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a titular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12480" y="3913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en CCGG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41248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consolidado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02920" y="493776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F4F8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77240" y="504748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primero esto: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 toma la cosecha en el mes 3, justo donde la rotación se dispara. Da continuidad de liderazgo (palanca clave de permanencia) y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posible medir y atribuir el bono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 único responsable.</a:t>
            </a:r>
            <a:endParaRPr lang="en-US" sz="1300" dirty="0"/>
          </a:p>
        </p:txBody>
      </p:sp>
      <p:pic>
        <p:nvPicPr>
          <p:cNvPr id="27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 el Talento · Call Center · Comité CC y Ventas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preliminar (por definir con el comité)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54480" y="2834640"/>
            <a:ext cx="7315200" cy="0"/>
          </a:xfrm>
          <a:prstGeom prst="line">
            <a:avLst/>
          </a:prstGeom>
          <a:noFill/>
          <a:ln w="25400">
            <a:solidFill>
              <a:srgbClr val="D5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80160" y="2286000"/>
            <a:ext cx="1097280" cy="1097280"/>
          </a:xfrm>
          <a:prstGeom prst="ellipse">
            <a:avLst/>
          </a:prstGeom>
          <a:solidFill>
            <a:srgbClr val="EE6C1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hito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(antes del quiebre)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37760" y="2286000"/>
            <a:ext cx="1097280" cy="109728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38912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95360" y="2286000"/>
            <a:ext cx="1097280" cy="1097280"/>
          </a:xfrm>
          <a:prstGeom prst="ellipse">
            <a:avLst/>
          </a:prstGeom>
          <a:solidFill>
            <a:srgbClr val="4EA7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04672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Permanencia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largo plazo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297680"/>
            <a:ext cx="11201400" cy="1600200"/>
          </a:xfrm>
          <a:prstGeom prst="roundRect">
            <a:avLst>
              <a:gd name="adj" fmla="val 4571"/>
            </a:avLst>
          </a:prstGeom>
          <a:solidFill>
            <a:srgbClr val="FFF3E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5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 definir con el comité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por hito  ·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equipo que debe permanecer para gatillar el bono  ·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mínimo de calidad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premiar reteniendo bajo rendimiento)  ·  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total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Estas cifras se cierran una vez validada la viabilidad (siguientes slides).</a:t>
            </a:r>
            <a:endParaRPr lang="en-US" sz="1300" dirty="0"/>
          </a:p>
        </p:txBody>
      </p:sp>
      <p:pic>
        <p:nvPicPr>
          <p:cNvPr id="18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 el Talento · Call Center · Comité CC y Ventas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PREVIA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bono necesita la continuidad para funcionar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9164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69164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continuidad (hoy)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96896"/>
            <a:ext cx="274320" cy="2743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91256"/>
            <a:ext cx="274320" cy="2743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85616"/>
            <a:ext cx="274320" cy="27432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379976"/>
            <a:ext cx="274320" cy="27432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6217920" y="169164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>
            <a:off x="6217920" y="169164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4EA72E"/>
          </a:solidFill>
          <a:ln/>
        </p:spPr>
      </p:sp>
      <p:sp>
        <p:nvSpPr>
          <p:cNvPr id="14" name="Text 7"/>
          <p:cNvSpPr/>
          <p:nvPr/>
        </p:nvSpPr>
        <p:spPr>
          <a:xfrm>
            <a:off x="621792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continuidad (propuesta)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596896"/>
            <a:ext cx="274320" cy="27432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191256"/>
            <a:ext cx="274320" cy="274320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785616"/>
            <a:ext cx="274320" cy="274320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379976"/>
            <a:ext cx="274320" cy="274320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822960" y="256032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" y="2615184"/>
            <a:ext cx="219456" cy="219456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80160" y="2514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cambia de supervisor cada mes</a:t>
            </a:r>
            <a:endParaRPr lang="en-US" sz="1250" dirty="0"/>
          </a:p>
        </p:txBody>
      </p:sp>
      <p:sp>
        <p:nvSpPr>
          <p:cNvPr id="22" name="Shape 10"/>
          <p:cNvSpPr/>
          <p:nvPr/>
        </p:nvSpPr>
        <p:spPr>
          <a:xfrm>
            <a:off x="822960" y="315468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" y="3209544"/>
            <a:ext cx="219456" cy="219456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1280160" y="3108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es responsable de que el asesor se quede</a:t>
            </a:r>
            <a:endParaRPr lang="en-US" sz="1250" dirty="0"/>
          </a:p>
        </p:txBody>
      </p:sp>
      <p:sp>
        <p:nvSpPr>
          <p:cNvPr id="25" name="Shape 12"/>
          <p:cNvSpPr/>
          <p:nvPr/>
        </p:nvSpPr>
        <p:spPr>
          <a:xfrm>
            <a:off x="822960" y="374904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824" y="3803904"/>
            <a:ext cx="219456" cy="219456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1280160" y="3703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atribuir el bono: ¿a cuál supervisor?</a:t>
            </a:r>
            <a:endParaRPr lang="en-US" sz="1250" dirty="0"/>
          </a:p>
        </p:txBody>
      </p:sp>
      <p:sp>
        <p:nvSpPr>
          <p:cNvPr id="28" name="Shape 14"/>
          <p:cNvSpPr/>
          <p:nvPr/>
        </p:nvSpPr>
        <p:spPr>
          <a:xfrm>
            <a:off x="822960" y="434340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824" y="4398264"/>
            <a:ext cx="219456" cy="219456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1280160" y="42976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incentivo no tendría a quién premiar de forma justa</a:t>
            </a:r>
            <a:endParaRPr lang="en-US" sz="1250" dirty="0"/>
          </a:p>
        </p:txBody>
      </p:sp>
      <p:sp>
        <p:nvSpPr>
          <p:cNvPr id="31" name="Shape 16"/>
          <p:cNvSpPr/>
          <p:nvPr/>
        </p:nvSpPr>
        <p:spPr>
          <a:xfrm>
            <a:off x="6537960" y="2560320"/>
            <a:ext cx="329184" cy="329184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2824" y="2615184"/>
            <a:ext cx="219456" cy="219456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6995160" y="2514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supervisor acompaña la cosecha del mes 3 al pase</a:t>
            </a:r>
            <a:endParaRPr lang="en-US" sz="1250" dirty="0"/>
          </a:p>
        </p:txBody>
      </p:sp>
      <p:sp>
        <p:nvSpPr>
          <p:cNvPr id="34" name="Shape 18"/>
          <p:cNvSpPr/>
          <p:nvPr/>
        </p:nvSpPr>
        <p:spPr>
          <a:xfrm>
            <a:off x="6537960" y="3154680"/>
            <a:ext cx="329184" cy="329184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2824" y="3209544"/>
            <a:ext cx="219456" cy="219456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6995160" y="3108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único responsable del acompañamiento</a:t>
            </a:r>
            <a:endParaRPr lang="en-US" sz="1250" dirty="0"/>
          </a:p>
        </p:txBody>
      </p:sp>
      <p:sp>
        <p:nvSpPr>
          <p:cNvPr id="37" name="Shape 20"/>
          <p:cNvSpPr/>
          <p:nvPr/>
        </p:nvSpPr>
        <p:spPr>
          <a:xfrm>
            <a:off x="6537960" y="3749040"/>
            <a:ext cx="329184" cy="329184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2824" y="3803904"/>
            <a:ext cx="219456" cy="219456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6995160" y="3703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permanencia se mide sobre esa cosecha</a:t>
            </a:r>
            <a:endParaRPr lang="en-US" sz="1250" dirty="0"/>
          </a:p>
        </p:txBody>
      </p:sp>
      <p:sp>
        <p:nvSpPr>
          <p:cNvPr id="40" name="Shape 22"/>
          <p:cNvSpPr/>
          <p:nvPr/>
        </p:nvSpPr>
        <p:spPr>
          <a:xfrm>
            <a:off x="6537960" y="4343400"/>
            <a:ext cx="329184" cy="329184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2824" y="4398264"/>
            <a:ext cx="219456" cy="219456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6995160" y="42976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bono es medible, justo y atribuible</a:t>
            </a:r>
            <a:endParaRPr lang="en-US" sz="1250" dirty="0"/>
          </a:p>
        </p:txBody>
      </p:sp>
      <p:pic>
        <p:nvPicPr>
          <p:cNvPr id="43" name="Image 17" descr="logo_bcp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 el Talento · Call Center · Comité CC y Ventas</a:t>
            </a:r>
            <a:endParaRPr lang="en-US" sz="900" dirty="0"/>
          </a:p>
        </p:txBody>
      </p:sp>
      <p:sp>
        <p:nvSpPr>
          <p:cNvPr id="45" name="Text 25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invertir: ¿el bono atacaría la causa real?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11201400" cy="1554480"/>
          </a:xfrm>
          <a:prstGeom prst="roundRect">
            <a:avLst>
              <a:gd name="adj" fmla="val 4706"/>
            </a:avLst>
          </a:prstGeom>
          <a:solidFill>
            <a:srgbClr val="F4F8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bono solo funciona si esta cadena se cumple: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80160" y="21488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002060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23360" y="2148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937760" y="21488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más por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80960" y="2148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595360" y="214884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002060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35661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3566160"/>
            <a:ext cx="109728" cy="2194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794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supervisor PUEDE retener?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438912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gente se va por el sueldo base, la complejidad del puesto o por la meta no informada al ingresar, eso NO está en manos del supervisor. El bono pagaría por algo que no puede controlar.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17920" y="35661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3566160"/>
            <a:ext cx="109728" cy="2194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1" name="Text 18"/>
          <p:cNvSpPr/>
          <p:nvPr/>
        </p:nvSpPr>
        <p:spPr>
          <a:xfrm>
            <a:off x="6537960" y="3794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incentivo CAMBIARÍA su conducta?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37960" y="438912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supervisor ya hace todo lo posible pero le falta tiempo o herramientas, el bono no agrega esfuerzo: agrega frustración. No retiene más.</a:t>
            </a:r>
            <a:endParaRPr lang="en-US" sz="1250" dirty="0"/>
          </a:p>
        </p:txBody>
      </p:sp>
      <p:pic>
        <p:nvPicPr>
          <p:cNvPr id="23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 el Talento · Call Center · Comité CC y Ventas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VALIDAMOS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fuentes de datos antes de decidir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51660" y="2011680"/>
            <a:ext cx="914400" cy="914400"/>
          </a:xfrm>
          <a:prstGeom prst="ellipse">
            <a:avLst/>
          </a:prstGeom>
          <a:solidFill>
            <a:srgbClr val="00206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240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Encuesta a asesores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77240" y="3520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¿Influye el supervisor en que se queden? Mide el peso del liderazgo en la permanencia, sin mencionar el bono.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31520" y="47548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“¿Qué tanto influye tu supervisor en tu decisión de quedarte?”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46420" y="2011680"/>
            <a:ext cx="914400" cy="914400"/>
          </a:xfrm>
          <a:prstGeom prst="ellipse">
            <a:avLst/>
          </a:prstGeom>
          <a:solidFill>
            <a:srgbClr val="EE6C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2402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Encuesta a supervisores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0" y="3520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¿Tienen margen y herramientas para retener? ¿Qué palanca elegirían? Revela si el incentivo aplica.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26280" y="47548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/>
        </p:spPr>
      </p:sp>
      <p:sp>
        <p:nvSpPr>
          <p:cNvPr id="18" name="Text 13"/>
          <p:cNvSpPr/>
          <p:nvPr/>
        </p:nvSpPr>
        <p:spPr>
          <a:xfrm>
            <a:off x="4663440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“¿Qué te ayudaría más a retener a tu equipo?”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92440" y="169164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41180" y="2011680"/>
            <a:ext cx="914400" cy="914400"/>
          </a:xfrm>
          <a:prstGeom prst="ellipse">
            <a:avLst/>
          </a:prstGeom>
          <a:solidFill>
            <a:srgbClr val="4EA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0" y="22402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Rotación por supervisor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366760" y="35204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duro de RR.HH.: ¿hay supervisores que retienen mejor que otros con equipos similares?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321040" y="475488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F1F4F9"/>
          </a:solidFill>
          <a:ln/>
        </p:spPr>
      </p:sp>
      <p:sp>
        <p:nvSpPr>
          <p:cNvPr id="25" name="Text 19"/>
          <p:cNvSpPr/>
          <p:nvPr/>
        </p:nvSpPr>
        <p:spPr>
          <a:xfrm>
            <a:off x="8458200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todos rotan igual → causa estructural, no liderazgo.</a:t>
            </a:r>
            <a:endParaRPr lang="en-US" sz="1050" dirty="0"/>
          </a:p>
        </p:txBody>
      </p:sp>
      <p:pic>
        <p:nvPicPr>
          <p:cNvPr id="26" name="Image 4" descr="logo_bc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 el Talento · Call Center · Comité CC y Ventas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nos dirán los datos</a:t>
            </a:r>
            <a:endParaRPr lang="en-US" sz="2600" dirty="0"/>
          </a:p>
        </p:txBody>
      </p:sp>
      <p:pic>
        <p:nvPicPr>
          <p:cNvPr id="4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411480"/>
            <a:ext cx="1143000" cy="539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37360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737360"/>
            <a:ext cx="137160" cy="1188720"/>
          </a:xfrm>
          <a:prstGeom prst="rect">
            <a:avLst/>
          </a:prstGeom>
          <a:solidFill>
            <a:srgbClr val="4EA72E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205740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4EA72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0" y="19202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datos muestran: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 dicen que el supervisor influye + hay supervisores que retienen mejor que otros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743200" y="2450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E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Decisión: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mueve la aguja → el bono tiene base. Se cierra diseño y presupuesto.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63240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3063240"/>
            <a:ext cx="137160" cy="1188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Shape 10"/>
          <p:cNvSpPr/>
          <p:nvPr/>
        </p:nvSpPr>
        <p:spPr>
          <a:xfrm>
            <a:off x="777240" y="338328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383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43200" y="32461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datos muestran: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 influye, pero le faltan tiempo o herramientas para retener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743200" y="37764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Decisión: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resolver capacidad (tiempo, formación). El bono solo, no basta.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389120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4389120"/>
            <a:ext cx="137160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470916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7091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743200" y="45720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datos muestran: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gente se va por el puesto, el sueldo o la meta no informada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2743200" y="5102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Decisión: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fuera del alcance del supervisor → el bono no resuelve. Se ahorra el presupuesto.</a:t>
            </a:r>
            <a:endParaRPr lang="en-US" sz="1250" dirty="0"/>
          </a:p>
        </p:txBody>
      </p:sp>
      <p:pic>
        <p:nvPicPr>
          <p:cNvPr id="23" name="Image 1" descr="logo_b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09360"/>
            <a:ext cx="77724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0" y="6327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Impulsando el Talento · Call Center · Comité CC y Ventas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68735" y="63276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62495" y="2194560"/>
            <a:ext cx="7772400" cy="7772400"/>
          </a:xfrm>
          <a:prstGeom prst="ellipse">
            <a:avLst/>
          </a:prstGeom>
          <a:solidFill>
            <a:srgbClr val="EE6C1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pedimos al comité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aprobar aún: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medir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Lanzar las encuestas (asesores y supervisores)</a:t>
            </a: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Extraer la rotación por supervisor de RR.HH.</a:t>
            </a: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Cruzar las 3 fuentes y aplicar el criterio de decisión</a:t>
            </a: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Volver al comité con evidencia para decidir el diseño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E6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con datos, no con supuestos.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pic>
        <p:nvPicPr>
          <p:cNvPr id="8" name="Image 0" descr="logo_b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153912"/>
            <a:ext cx="164592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Impulsando el Talento</dc:title>
  <dc:subject>PptxGenJS Presentation</dc:subject>
  <dc:creator>Call Center - BCP</dc:creator>
  <cp:lastModifiedBy>Call Center - BCP</cp:lastModifiedBy>
  <cp:revision>1</cp:revision>
  <dcterms:created xsi:type="dcterms:W3CDTF">2026-06-15T19:52:07Z</dcterms:created>
  <dcterms:modified xsi:type="dcterms:W3CDTF">2026-06-15T19:52:07Z</dcterms:modified>
</cp:coreProperties>
</file>