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Rotación</c:v>
                </c:pt>
              </c:strCache>
            </c:strRef>
          </c:tx>
          <c:spPr>
            <a:solidFill>
              <a:srgbClr val="EE6C1E"/>
            </a:solidFill>
            <a:ln w="38100" cap="flat">
              <a:solidFill>
                <a:srgbClr val="EE6C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6C1E"/>
              </a:solidFill>
              <a:ln w="9525" cap="flat">
                <a:solidFill>
                  <a:srgbClr val="EE6C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18</c:v>
                </c:pt>
                <c:pt idx="2">
                  <c:v>28</c:v>
                </c:pt>
                <c:pt idx="3">
                  <c:v>36</c:v>
                </c:pt>
                <c:pt idx="4">
                  <c:v>43</c:v>
                </c:pt>
                <c:pt idx="5">
                  <c:v>59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377440"/>
            <a:ext cx="8686800" cy="868680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3" name="Shape 1"/>
          <p:cNvSpPr/>
          <p:nvPr/>
        </p:nvSpPr>
        <p:spPr>
          <a:xfrm>
            <a:off x="-4206240" y="1097280"/>
            <a:ext cx="5669280" cy="5669280"/>
          </a:xfrm>
          <a:prstGeom prst="ellipse">
            <a:avLst/>
          </a:prstGeom>
          <a:solidFill>
            <a:srgbClr val="D8550E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RETENCIÓN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para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talento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· Servicios Financieros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5029200" cy="0"/>
          </a:xfrm>
          <a:prstGeom prst="line">
            <a:avLst/>
          </a:prstGeom>
          <a:noFill/>
          <a:ln w="31750">
            <a:solidFill>
              <a:srgbClr val="EE6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66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CC y Ventas  ·  Jun '26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02775" y="507492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095" y="5321808"/>
            <a:ext cx="169164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necesitamos actuar ahora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459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acumulada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6459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2044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3-4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5760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quiebre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curva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7960" y="16459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67512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Ceses de 225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(6 meses)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0" y="164592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002060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326880" y="17830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se va entre el mes 1 y el 4. Ahí concentramos las iniciativas.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3703320"/>
            <a:ext cx="11201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rotación por mes de cosecha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31520" y="4206240"/>
          <a:ext cx="106984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9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frentes para retener talento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48740" y="2286000"/>
            <a:ext cx="1005840" cy="1005840"/>
          </a:xfrm>
          <a:prstGeom prst="ellipse">
            <a:avLst/>
          </a:prstGeom>
          <a:solidFill>
            <a:srgbClr val="EE6C1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25328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sólido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3152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bien los primeros 90 días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447288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3108" y="2286000"/>
            <a:ext cx="1005840" cy="1005840"/>
          </a:xfrm>
          <a:prstGeom prst="ellipse">
            <a:avLst/>
          </a:prstGeom>
          <a:solidFill>
            <a:srgbClr val="00206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253288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30168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Sentirse valorado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675888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y mejor experiencia diaria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91656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37476" y="2286000"/>
            <a:ext cx="1005840" cy="1005840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253288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74536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620256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y bienestar en un rol exigente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336024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81844" y="2286000"/>
            <a:ext cx="1005840" cy="1005840"/>
          </a:xfrm>
          <a:prstGeom prst="ellipse">
            <a:avLst/>
          </a:prstGeom>
          <a:solidFill>
            <a:srgbClr val="D8550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2532888"/>
            <a:ext cx="512064" cy="5120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18904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la fuga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9564624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datos para actuar antes de la renuncia</a:t>
            </a:r>
            <a:endParaRPr lang="en-US" sz="1300" dirty="0"/>
          </a:p>
        </p:txBody>
      </p:sp>
      <p:pic>
        <p:nvPicPr>
          <p:cNvPr id="25" name="Image 5" descr="logo_bc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de los primeros 90 días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02775" y="457200"/>
            <a:ext cx="868680" cy="868680"/>
          </a:xfrm>
          <a:prstGeom prst="ellipse">
            <a:avLst/>
          </a:prstGeom>
          <a:solidFill>
            <a:srgbClr val="EE6C1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943" y="65836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60020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rotación se dispara en el mes 3-4. El nuevo asesor llega con expectativas que el día a día no cumple, y nadie detecta a tiempo cuándo empieza a desconectarse.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600200"/>
            <a:ext cx="7040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21945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hitos a 30, 60 y 90 días con metas claras de aprendizaje.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1:1 obligatorio en la semana 6 y en la semana 10 (justo antes del quiebre).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realistas del rol desde el día 1 (qué es y qué no es el puesto).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4" name="Text 10"/>
          <p:cNvSpPr/>
          <p:nvPr/>
        </p:nvSpPr>
        <p:spPr>
          <a:xfrm>
            <a:off x="5047488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47488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(coordinación)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42632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52360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semanas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747504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20" name="Text 16"/>
          <p:cNvSpPr/>
          <p:nvPr/>
        </p:nvSpPr>
        <p:spPr>
          <a:xfrm>
            <a:off x="9857232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Impacto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857232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ataca el quiebre</a:t>
            </a:r>
            <a:endParaRPr lang="en-US" sz="1100" dirty="0"/>
          </a:p>
        </p:txBody>
      </p:sp>
      <p:pic>
        <p:nvPicPr>
          <p:cNvPr id="22" name="Image 2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"Buddy": un compañero desde el día 1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02775" y="457200"/>
            <a:ext cx="868680" cy="868680"/>
          </a:xfrm>
          <a:prstGeom prst="ellipse">
            <a:avLst/>
          </a:prstGeom>
          <a:solidFill>
            <a:srgbClr val="00206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943" y="65836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60020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nuevos se sienten solos las primeras semanas. La encuesta muestra que la pertenencia al equipo (P2/P4) es uno de los mayores predictores de permanencia.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600200"/>
            <a:ext cx="7040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21945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asesor recibe un "buddy" senior durante sus primeras 8 semanas.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buddy resuelve dudas rápidas y ayuda a integrarse al equipo.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 los buddies (es desarrollo de liderazgo para ellos).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4" name="Text 10"/>
          <p:cNvSpPr/>
          <p:nvPr/>
        </p:nvSpPr>
        <p:spPr>
          <a:xfrm>
            <a:off x="5047488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47488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monetario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42632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52360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747504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20" name="Text 16"/>
          <p:cNvSpPr/>
          <p:nvPr/>
        </p:nvSpPr>
        <p:spPr>
          <a:xfrm>
            <a:off x="9857232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Impacto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857232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pertenencia</a:t>
            </a:r>
            <a:endParaRPr lang="en-US" sz="1100" dirty="0"/>
          </a:p>
        </p:txBody>
      </p:sp>
      <p:pic>
        <p:nvPicPr>
          <p:cNvPr id="22" name="Image 2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que se siente cada semana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02775" y="457200"/>
            <a:ext cx="868680" cy="868680"/>
          </a:xfrm>
          <a:prstGeom prst="ellipse">
            <a:avLst/>
          </a:prstGeom>
          <a:solidFill>
            <a:srgbClr val="D8550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943" y="65836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60020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Inbound resolver bien "se da por hecho": no hay sensación de victoria. Eso resta motivación frente a Outbound, donde cada venta es un logro visible.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600200"/>
            <a:ext cx="7040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21945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semanal del equipo y "asesor del mes".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 simbólicos de bajo costo: mejor horario, día libre, parqueo.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 de logros visible para todo el equipo.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4" name="Text 10"/>
          <p:cNvSpPr/>
          <p:nvPr/>
        </p:nvSpPr>
        <p:spPr>
          <a:xfrm>
            <a:off x="5047488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47488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42632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52360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semanas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747504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20" name="Text 16"/>
          <p:cNvSpPr/>
          <p:nvPr/>
        </p:nvSpPr>
        <p:spPr>
          <a:xfrm>
            <a:off x="9857232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Impacto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857232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Medio-Alto — motivación</a:t>
            </a:r>
            <a:endParaRPr lang="en-US" sz="1100" dirty="0"/>
          </a:p>
        </p:txBody>
      </p:sp>
      <p:pic>
        <p:nvPicPr>
          <p:cNvPr id="22" name="Image 2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y bienestar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02775" y="457200"/>
            <a:ext cx="868680" cy="868680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943" y="65836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60020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rol de alto desgaste emocional. La encuesta señala horarios y equilibrio vida-trabajo (P7/P10) entre los principales motivos para considerar irse.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600200"/>
            <a:ext cx="7040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21945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de horarios o intercambio de turnos entre asesores.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Micro-pausas estructuradas durante el día.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de salud mental / línea de contención emocional.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4" name="Text 10"/>
          <p:cNvSpPr/>
          <p:nvPr/>
        </p:nvSpPr>
        <p:spPr>
          <a:xfrm>
            <a:off x="5047488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47488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Bajo-Medio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42632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52360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semanas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747504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20" name="Text 16"/>
          <p:cNvSpPr/>
          <p:nvPr/>
        </p:nvSpPr>
        <p:spPr>
          <a:xfrm>
            <a:off x="9857232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Impacto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857232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— bienestar</a:t>
            </a:r>
            <a:endParaRPr lang="en-US" sz="1100" dirty="0"/>
          </a:p>
        </p:txBody>
      </p:sp>
      <p:pic>
        <p:nvPicPr>
          <p:cNvPr id="22" name="Image 2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la fuga con datos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02775" y="457200"/>
            <a:ext cx="868680" cy="86868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943" y="65836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60020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actuamos cuando el asesor ya renunció. Tenemos las señales para intervenir antes, pero no las estamos usando de forma sistemática.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600200"/>
            <a:ext cx="7040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21945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 de riesgo: P9 alto + P2 aislado = banda crítica.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para que el supervisor intervenga ANTES de la renuncia.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"Stay interviews" a quienes llevan 4-5 meses (no solo entrevistas de salida).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4" name="Text 10"/>
          <p:cNvSpPr/>
          <p:nvPr/>
        </p:nvSpPr>
        <p:spPr>
          <a:xfrm>
            <a:off x="5047488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47488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42632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17" name="Text 13"/>
          <p:cNvSpPr/>
          <p:nvPr/>
        </p:nvSpPr>
        <p:spPr>
          <a:xfrm>
            <a:off x="7452360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52360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semanas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747504" y="5029200"/>
            <a:ext cx="2221992" cy="6858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</p:spPr>
      </p:sp>
      <p:sp>
        <p:nvSpPr>
          <p:cNvPr id="20" name="Text 16"/>
          <p:cNvSpPr/>
          <p:nvPr/>
        </p:nvSpPr>
        <p:spPr>
          <a:xfrm>
            <a:off x="9857232" y="51023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Impacto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857232" y="53583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preventivo</a:t>
            </a:r>
            <a:endParaRPr lang="en-US" sz="1100" dirty="0"/>
          </a:p>
        </p:txBody>
      </p:sp>
      <p:pic>
        <p:nvPicPr>
          <p:cNvPr id="22" name="Image 2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PRIORIZAR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vs. esfuerzo: por dónde empezar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54480" y="1737360"/>
            <a:ext cx="7315200" cy="4023360"/>
          </a:xfrm>
          <a:prstGeom prst="roundRect">
            <a:avLst>
              <a:gd name="adj" fmla="val 1818"/>
            </a:avLst>
          </a:prstGeom>
          <a:solidFill>
            <a:srgbClr val="FBFCFE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54480" y="1737360"/>
            <a:ext cx="3657600" cy="2011680"/>
          </a:xfrm>
          <a:prstGeom prst="rect">
            <a:avLst/>
          </a:prstGeom>
          <a:solidFill>
            <a:srgbClr val="EAF6E6"/>
          </a:solidFill>
          <a:ln/>
        </p:spPr>
      </p:sp>
      <p:sp>
        <p:nvSpPr>
          <p:cNvPr id="7" name="Shape 4"/>
          <p:cNvSpPr/>
          <p:nvPr/>
        </p:nvSpPr>
        <p:spPr>
          <a:xfrm>
            <a:off x="5212080" y="1737360"/>
            <a:ext cx="0" cy="402336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54480" y="3749040"/>
            <a:ext cx="7315200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459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impacto ↑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esfuerzo 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Mayor esfuerzo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67712" y="2296973"/>
            <a:ext cx="329184" cy="329184"/>
          </a:xfrm>
          <a:prstGeom prst="ellipse">
            <a:avLst/>
          </a:prstGeom>
          <a:solidFill>
            <a:srgbClr val="002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33472" y="229697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894637"/>
            <a:ext cx="329184" cy="329184"/>
          </a:xfrm>
          <a:prstGeom prst="ellipse">
            <a:avLst/>
          </a:prstGeom>
          <a:solidFill>
            <a:srgbClr val="EE6C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1894637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90d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60320" y="3182112"/>
            <a:ext cx="329184" cy="329184"/>
          </a:xfrm>
          <a:prstGeom prst="ellipse">
            <a:avLst/>
          </a:prstGeom>
          <a:solidFill>
            <a:srgbClr val="D855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3182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2296973"/>
            <a:ext cx="329184" cy="329184"/>
          </a:xfrm>
          <a:prstGeom prst="ellipse">
            <a:avLst/>
          </a:prstGeom>
          <a:solidFill>
            <a:srgbClr val="1B3A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229697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/ alertas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79008" y="3664915"/>
            <a:ext cx="329184" cy="329184"/>
          </a:xfrm>
          <a:prstGeom prst="ellipse">
            <a:avLst/>
          </a:prstGeom>
          <a:solidFill>
            <a:srgbClr val="4EA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4768" y="3664915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144000" y="1737360"/>
            <a:ext cx="2560320" cy="4023360"/>
          </a:xfrm>
          <a:prstGeom prst="roundRect">
            <a:avLst>
              <a:gd name="adj" fmla="val 2857"/>
            </a:avLst>
          </a:prstGeom>
          <a:solidFill>
            <a:srgbClr val="002060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32688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sugerido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326880" y="2331720"/>
            <a:ext cx="2240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Buddy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costo, impacto inmediato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Onboarding 90d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el mes 3-4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Reconocimiento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semanal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Datos / alertas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fugas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Flexibilidad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a mediano plazo</a:t>
            </a:r>
            <a:endParaRPr lang="en-US" sz="1300" dirty="0"/>
          </a:p>
        </p:txBody>
      </p:sp>
      <p:pic>
        <p:nvPicPr>
          <p:cNvPr id="25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de Retención · Call Center · Comité CC y Ventas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2194560"/>
            <a:ext cx="7772400" cy="777240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simple,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escalar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Arrancar con Buddy + Onboarding 90d (costo casi cero)</a:t>
            </a:r>
            <a:endParaRPr lang="en-US" sz="17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Piloto con una cosecha y medir rotación al mes 3-4</a:t>
            </a:r>
            <a:endParaRPr lang="en-US" sz="17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Sumar reconocimiento y alertas de datos</a:t>
            </a:r>
            <a:endParaRPr lang="en-US" sz="17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Comparar resultados y decidir qué escalar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85216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7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053328"/>
            <a:ext cx="1645920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Iniciativas de Retención</dc:title>
  <dc:subject>PptxGenJS Presentation</dc:subject>
  <dc:creator>Call Center - BCP</dc:creator>
  <cp:lastModifiedBy>Call Center - BCP</cp:lastModifiedBy>
  <cp:revision>1</cp:revision>
  <dcterms:created xsi:type="dcterms:W3CDTF">2026-06-10T14:04:59Z</dcterms:created>
  <dcterms:modified xsi:type="dcterms:W3CDTF">2026-06-10T14:04:59Z</dcterms:modified>
</cp:coreProperties>
</file>